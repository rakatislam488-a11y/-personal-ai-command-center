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3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658368"/>
            <a:ext cx="10881360" cy="5440680"/>
          </a:xfrm>
          <a:prstGeom prst="roundRect">
            <a:avLst/>
          </a:prstGeom>
          <a:solidFill>
            <a:srgbClr val="18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1115568"/>
            <a:ext cx="9875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64E6BE"/>
                </a:solidFill>
                <a:latin typeface="Aptos"/>
              </a:defRPr>
            </a:pPr>
            <a:r>
              <a:t>FREE-FIRST BUILD PLAN  •  VERSION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737360"/>
            <a:ext cx="978408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3400" b="1">
                <a:solidFill>
                  <a:srgbClr val="F2F6FA"/>
                </a:solidFill>
                <a:latin typeface="Aptos"/>
              </a:defRPr>
            </a:pPr>
            <a:r>
              <a:t>PERSONAL AI</a:t>
            </a:r>
          </a:p>
          <a:p>
            <a:pPr>
              <a:spcAft>
                <a:spcPts val="700"/>
              </a:spcAft>
              <a:defRPr sz="3400" b="1">
                <a:solidFill>
                  <a:srgbClr val="F2F6FA"/>
                </a:solidFill>
                <a:latin typeface="Aptos"/>
              </a:defRPr>
            </a:pPr>
            <a:r>
              <a:t>COMMAND CENTER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3364992"/>
            <a:ext cx="886968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AEBCCC"/>
                </a:solidFill>
                <a:latin typeface="Aptos"/>
              </a:defRPr>
            </a:pPr>
            <a:r>
              <a:t>A practical roadmap for Gmail, YouTube research, task management,</a:t>
            </a:r>
          </a:p>
          <a:p>
            <a:pPr>
              <a:spcAft>
                <a:spcPts val="700"/>
              </a:spcAft>
              <a:defRPr sz="1600" b="0">
                <a:solidFill>
                  <a:srgbClr val="AEBCCC"/>
                </a:solidFill>
                <a:latin typeface="Aptos"/>
              </a:defRPr>
            </a:pPr>
            <a:r>
              <a:t>approvals and Shopify development — starting with free tools.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1560" y="4800600"/>
            <a:ext cx="2148840" cy="566928"/>
          </a:xfrm>
          <a:prstGeom prst="roundRect">
            <a:avLst/>
          </a:prstGeom>
          <a:solidFill>
            <a:srgbClr val="1F2A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4956048"/>
            <a:ext cx="1874519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64E6BE"/>
                </a:solidFill>
                <a:latin typeface="Aptos"/>
              </a:defRPr>
            </a:pPr>
            <a:r>
              <a:t>BUILD → TEST → CONNECT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6327648"/>
            <a:ext cx="96926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AEBCCC"/>
                </a:solidFill>
                <a:latin typeface="Aptos"/>
              </a:defRPr>
            </a:pPr>
            <a:r>
              <a:t>Principle: no paid tools until a real bottleneck proves they are needed.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AEBCCC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3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4E6BE"/>
                </a:solidFill>
                <a:latin typeface="Aptos"/>
              </a:defRPr>
            </a:pPr>
            <a:r>
              <a:t>01 / NORTH STAR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F2F6FA"/>
                </a:solidFill>
                <a:latin typeface="Aptos"/>
              </a:defRPr>
            </a:pPr>
            <a:r>
              <a:t>What the Command Center should actually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98448"/>
            <a:ext cx="107899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AEBCCC"/>
                </a:solidFill>
                <a:latin typeface="Aptos"/>
              </a:defRPr>
            </a:pPr>
            <a:r>
              <a:t>One home screen that turns information into reviewed, trackable 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AEBCC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3520440" cy="1417320"/>
          </a:xfrm>
          <a:prstGeom prst="roundRect">
            <a:avLst/>
          </a:prstGeom>
          <a:solidFill>
            <a:srgbClr val="18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65960"/>
            <a:ext cx="64008" cy="1417320"/>
          </a:xfrm>
          <a:prstGeom prst="rect">
            <a:avLst/>
          </a:prstGeom>
          <a:solidFill>
            <a:srgbClr val="64E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112264"/>
            <a:ext cx="31546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2F6FA"/>
                </a:solidFill>
                <a:latin typeface="Aptos"/>
              </a:defRPr>
            </a:pPr>
            <a:r>
              <a:t>CAPTURE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532888"/>
            <a:ext cx="3154680" cy="7589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AEBCCC"/>
                </a:solidFill>
                <a:latin typeface="Aptos"/>
              </a:defRPr>
            </a:pPr>
            <a:r>
              <a:t>Bring in useful signals: Gmail messages, YouTube tutorials, business tasks and Shopify development notes.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965960"/>
            <a:ext cx="3520440" cy="1417320"/>
          </a:xfrm>
          <a:prstGeom prst="roundRect">
            <a:avLst/>
          </a:prstGeom>
          <a:solidFill>
            <a:srgbClr val="18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965960"/>
            <a:ext cx="64008" cy="1417320"/>
          </a:xfrm>
          <a:prstGeom prst="rect">
            <a:avLst/>
          </a:prstGeom>
          <a:solidFill>
            <a:srgbClr val="69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2112264"/>
            <a:ext cx="31546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2F6FA"/>
                </a:solidFill>
                <a:latin typeface="Aptos"/>
              </a:defRPr>
            </a:pPr>
            <a:r>
              <a:t>THINK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532888"/>
            <a:ext cx="3154680" cy="7589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AEBCCC"/>
                </a:solidFill>
                <a:latin typeface="Aptos"/>
              </a:defRPr>
            </a:pPr>
            <a:r>
              <a:t>Summarize, extract steps, suggest tasks, identify unknowns and draft a test plan — with sources attached.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965960"/>
            <a:ext cx="3520440" cy="1417320"/>
          </a:xfrm>
          <a:prstGeom prst="roundRect">
            <a:avLst/>
          </a:prstGeom>
          <a:solidFill>
            <a:srgbClr val="18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965960"/>
            <a:ext cx="64008" cy="1417320"/>
          </a:xfrm>
          <a:prstGeom prst="rect">
            <a:avLst/>
          </a:prstGeom>
          <a:solidFill>
            <a:srgbClr val="FFC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2112264"/>
            <a:ext cx="31546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2F6FA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532888"/>
            <a:ext cx="3154680" cy="7589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AEBCCC"/>
                </a:solidFill>
                <a:latin typeface="Aptos"/>
              </a:defRPr>
            </a:pPr>
            <a:r>
              <a:t>Show proposed actions, ask for approval, execute only permitted actions and keep an audit log.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794760"/>
            <a:ext cx="10927080" cy="1417320"/>
          </a:xfrm>
          <a:prstGeom prst="roundRect">
            <a:avLst/>
          </a:prstGeom>
          <a:solidFill>
            <a:srgbClr val="1F2A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041648"/>
            <a:ext cx="102412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64E6BE"/>
                </a:solidFill>
                <a:latin typeface="Aptos"/>
              </a:defRPr>
            </a:pPr>
            <a:r>
              <a:t>THE RULE THAT MAKES IT TRUSTWORTHY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462272"/>
            <a:ext cx="102412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2F6FA"/>
                </a:solidFill>
                <a:latin typeface="Aptos"/>
              </a:defRPr>
            </a:pPr>
            <a:r>
              <a:t>AI can recommend and prepare. The user approves external or irreversible actions. Every integration starts with the smallest permission that works.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3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4E6BE"/>
                </a:solidFill>
                <a:latin typeface="Aptos"/>
              </a:defRPr>
            </a:pPr>
            <a:r>
              <a:t>02 / TOOL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F2F6FA"/>
                </a:solidFill>
                <a:latin typeface="Aptos"/>
              </a:defRPr>
            </a:pPr>
            <a:r>
              <a:t>Start with free or already-available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98448"/>
            <a:ext cx="107899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AEBCCC"/>
                </a:solidFill>
                <a:latin typeface="Aptos"/>
              </a:defRPr>
            </a:pPr>
            <a:r>
              <a:t>Free tiers and limits change; verify current terms before relying on a service.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AEBCC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5544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4E6BE"/>
                </a:solidFill>
                <a:latin typeface="Aptos"/>
              </a:defRPr>
            </a:pPr>
            <a:r>
              <a:t>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874519"/>
            <a:ext cx="28803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4E6BE"/>
                </a:solidFill>
                <a:latin typeface="Aptos"/>
              </a:defRPr>
            </a:pPr>
            <a:r>
              <a:t>FREE-FIRST OPTION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74920" y="1874519"/>
            <a:ext cx="16916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4E6BE"/>
                </a:solidFill>
                <a:latin typeface="Aptos"/>
              </a:defRPr>
            </a:pPr>
            <a:r>
              <a:t>COST REALITY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1874519"/>
            <a:ext cx="4800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4E6BE"/>
                </a:solidFill>
                <a:latin typeface="Aptos"/>
              </a:defRPr>
            </a:pPr>
            <a:r>
              <a:t>DECISION / LIMIT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58568"/>
            <a:ext cx="10927080" cy="521207"/>
          </a:xfrm>
          <a:prstGeom prst="roundRect">
            <a:avLst/>
          </a:prstGeom>
          <a:solidFill>
            <a:srgbClr val="18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340863"/>
            <a:ext cx="138988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F2F6FA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04288" y="2340863"/>
            <a:ext cx="271576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AEBCCC"/>
                </a:solidFill>
                <a:latin typeface="Aptos"/>
              </a:defRPr>
            </a:pPr>
            <a:r>
              <a:t>Existing HTML + GitHub repository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84648" y="2340863"/>
            <a:ext cx="15270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AEBCCC"/>
                </a:solidFill>
                <a:latin typeface="Aptos"/>
              </a:defRPr>
            </a:pPr>
            <a:r>
              <a:t>$0 to start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76288" y="2340863"/>
            <a:ext cx="463600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AEBCCC"/>
                </a:solidFill>
                <a:latin typeface="Aptos"/>
              </a:defRPr>
            </a:pPr>
            <a:r>
              <a:t>Keep the current prototype; track every change in version control.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852927"/>
            <a:ext cx="10927080" cy="521207"/>
          </a:xfrm>
          <a:prstGeom prst="roundRect">
            <a:avLst/>
          </a:prstGeom>
          <a:solidFill>
            <a:srgbClr val="1F2A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2935223"/>
            <a:ext cx="138988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F2F6FA"/>
                </a:solidFill>
                <a:latin typeface="Aptos"/>
              </a:defRPr>
            </a:pPr>
            <a:r>
              <a:t>Task database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04288" y="2935223"/>
            <a:ext cx="271576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AEBCCC"/>
                </a:solidFill>
                <a:latin typeface="Aptos"/>
              </a:defRPr>
            </a:pPr>
            <a:r>
              <a:t>SQLite locally; later Supabase Free or Google Sheets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84648" y="2935223"/>
            <a:ext cx="15270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AEBCCC"/>
                </a:solidFill>
                <a:latin typeface="Aptos"/>
              </a:defRPr>
            </a:pPr>
            <a:r>
              <a:t>$0 to start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76288" y="2935223"/>
            <a:ext cx="463600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AEBCCC"/>
                </a:solidFill>
                <a:latin typeface="Aptos"/>
              </a:defRPr>
            </a:pPr>
            <a:r>
              <a:t>Use one source of truth; export/backup from day one.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447287"/>
            <a:ext cx="10927080" cy="521207"/>
          </a:xfrm>
          <a:prstGeom prst="roundRect">
            <a:avLst/>
          </a:prstGeom>
          <a:solidFill>
            <a:srgbClr val="18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529583"/>
            <a:ext cx="138988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F2F6FA"/>
                </a:solidFill>
                <a:latin typeface="Aptos"/>
              </a:defRPr>
            </a:pPr>
            <a:r>
              <a:t>Automation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04288" y="3529583"/>
            <a:ext cx="271576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AEBCCC"/>
                </a:solidFill>
                <a:latin typeface="Aptos"/>
              </a:defRPr>
            </a:pPr>
            <a:r>
              <a:t>Manual triggers first; n8n Community self-hosted if suitable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84648" y="3529583"/>
            <a:ext cx="15270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AEBCCC"/>
                </a:solidFill>
                <a:latin typeface="Aptos"/>
              </a:defRPr>
            </a:pPr>
            <a:r>
              <a:t>Software can be free; hosting may not be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76288" y="3529583"/>
            <a:ext cx="463600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AEBCCC"/>
                </a:solidFill>
                <a:latin typeface="Aptos"/>
              </a:defRPr>
            </a:pPr>
            <a:r>
              <a:t>Self-hosting needs a computer/server that stays available and basic maintenance.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041648"/>
            <a:ext cx="10927080" cy="521207"/>
          </a:xfrm>
          <a:prstGeom prst="roundRect">
            <a:avLst/>
          </a:prstGeom>
          <a:solidFill>
            <a:srgbClr val="1F2A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4123944"/>
            <a:ext cx="138988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F2F6FA"/>
                </a:solidFill>
                <a:latin typeface="Aptos"/>
              </a:defRPr>
            </a:pPr>
            <a:r>
              <a:t>Gmail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04288" y="4123944"/>
            <a:ext cx="271576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AEBCCC"/>
                </a:solidFill>
                <a:latin typeface="Aptos"/>
              </a:defRPr>
            </a:pPr>
            <a:r>
              <a:t>Gmail API + Google OAuth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84648" y="4123944"/>
            <a:ext cx="15270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AEBCCC"/>
                </a:solidFill>
                <a:latin typeface="Aptos"/>
              </a:defRPr>
            </a:pPr>
            <a:r>
              <a:t>API standard use currently no extra charge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76288" y="4123944"/>
            <a:ext cx="463600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AEBCCC"/>
                </a:solidFill>
                <a:latin typeface="Aptos"/>
              </a:defRPr>
            </a:pPr>
            <a:r>
              <a:t>Read-only scope first; OAuth setup and consent configuration still required.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636008"/>
            <a:ext cx="10927080" cy="521207"/>
          </a:xfrm>
          <a:prstGeom prst="roundRect">
            <a:avLst/>
          </a:prstGeom>
          <a:solidFill>
            <a:srgbClr val="18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718304"/>
            <a:ext cx="138988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F2F6FA"/>
                </a:solidFill>
                <a:latin typeface="Aptos"/>
              </a:defRPr>
            </a:pPr>
            <a:r>
              <a:t>YouTube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04288" y="4718304"/>
            <a:ext cx="271576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AEBCCC"/>
                </a:solidFill>
                <a:latin typeface="Aptos"/>
              </a:defRPr>
            </a:pPr>
            <a:r>
              <a:t>YouTube Data API + available captions/transcripts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84648" y="4718304"/>
            <a:ext cx="15270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AEBCCC"/>
                </a:solidFill>
                <a:latin typeface="Aptos"/>
              </a:defRPr>
            </a:pPr>
            <a:r>
              <a:t>Quota / availability dependent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76288" y="4718304"/>
            <a:ext cx="463600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AEBCCC"/>
                </a:solidFill>
                <a:latin typeface="Aptos"/>
              </a:defRPr>
            </a:pPr>
            <a:r>
              <a:t>Video metadata is not the same as transcript access.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5230368"/>
            <a:ext cx="10927080" cy="521207"/>
          </a:xfrm>
          <a:prstGeom prst="roundRect">
            <a:avLst/>
          </a:prstGeom>
          <a:solidFill>
            <a:srgbClr val="1F2A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9808" y="5312664"/>
            <a:ext cx="138988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F2F6FA"/>
                </a:solidFill>
                <a:latin typeface="Aptos"/>
              </a:defRPr>
            </a:pPr>
            <a:r>
              <a:t>Shopify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04288" y="5312664"/>
            <a:ext cx="271576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AEBCCC"/>
                </a:solidFill>
                <a:latin typeface="Aptos"/>
              </a:defRPr>
            </a:pPr>
            <a:r>
              <a:t>Theme copy, local files, Shopify dev docs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84648" y="5312664"/>
            <a:ext cx="15270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AEBCCC"/>
                </a:solidFill>
                <a:latin typeface="Aptos"/>
              </a:defRPr>
            </a:pPr>
            <a:r>
              <a:t>No extra tool required to plan/test code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76288" y="5312664"/>
            <a:ext cx="463600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AEBCCC"/>
                </a:solidFill>
                <a:latin typeface="Aptos"/>
              </a:defRPr>
            </a:pPr>
            <a:r>
              <a:t>Never publish or change payments/domain without explicit approval.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6016752"/>
            <a:ext cx="106984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FFC469"/>
                </a:solidFill>
                <a:latin typeface="Aptos"/>
              </a:defRPr>
            </a:pPr>
            <a:r>
              <a:t>Avoid subscriptions, paid AI APIs and always-on cloud hosting until the workflow is proven useful.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3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4E6BE"/>
                </a:solidFill>
                <a:latin typeface="Aptos"/>
              </a:defRPr>
            </a:pPr>
            <a:r>
              <a:t>03 /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F2F6FA"/>
                </a:solidFill>
                <a:latin typeface="Aptos"/>
              </a:defRPr>
            </a:pPr>
            <a:r>
              <a:t>A simple architecture that can grow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98448"/>
            <a:ext cx="107899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AEBCCC"/>
                </a:solidFill>
                <a:latin typeface="Aptos"/>
              </a:defRPr>
            </a:pPr>
            <a:r>
              <a:t>Keep secrets off the frontend; separate the UI, data and external integrations.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AEBCC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20240"/>
            <a:ext cx="2148840" cy="868680"/>
          </a:xfrm>
          <a:prstGeom prst="roundRect">
            <a:avLst/>
          </a:prstGeom>
          <a:solidFill>
            <a:srgbClr val="1F2A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75688"/>
            <a:ext cx="19659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69A9FF"/>
                </a:solidFill>
                <a:latin typeface="Aptos"/>
              </a:defRPr>
            </a:pPr>
            <a:r>
              <a:t>DASHBOARD 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23160"/>
            <a:ext cx="1965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900" b="0">
                <a:solidFill>
                  <a:srgbClr val="AEBCCC"/>
                </a:solidFill>
                <a:latin typeface="Aptos"/>
              </a:defRPr>
            </a:pPr>
            <a:r>
              <a:t>HTML / JS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1920240"/>
            <a:ext cx="2148840" cy="868680"/>
          </a:xfrm>
          <a:prstGeom prst="roundRect">
            <a:avLst/>
          </a:prstGeom>
          <a:solidFill>
            <a:srgbClr val="1F2A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39" y="2075688"/>
            <a:ext cx="19659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64E6BE"/>
                </a:solidFill>
                <a:latin typeface="Aptos"/>
              </a:defRPr>
            </a:pPr>
            <a:r>
              <a:t>BACKEND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423160"/>
            <a:ext cx="1965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900" b="0">
                <a:solidFill>
                  <a:srgbClr val="AEBCCC"/>
                </a:solidFill>
                <a:latin typeface="Aptos"/>
              </a:defRPr>
            </a:pPr>
            <a:r>
              <a:t>Auth + validation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1920240"/>
            <a:ext cx="2148840" cy="868680"/>
          </a:xfrm>
          <a:prstGeom prst="roundRect">
            <a:avLst/>
          </a:prstGeom>
          <a:solidFill>
            <a:srgbClr val="1F2A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79" y="2075688"/>
            <a:ext cx="19659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FFC469"/>
                </a:solidFill>
                <a:latin typeface="Aptos"/>
              </a:defRPr>
            </a:pPr>
            <a:r>
              <a:t>TASK DATABASE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79" y="2423160"/>
            <a:ext cx="1965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900" b="0">
                <a:solidFill>
                  <a:srgbClr val="AEBCCC"/>
                </a:solidFill>
                <a:latin typeface="Aptos"/>
              </a:defRPr>
            </a:pPr>
            <a:r>
              <a:t>SQLite → hosted DB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1920240"/>
            <a:ext cx="2011680" cy="868680"/>
          </a:xfrm>
          <a:prstGeom prst="roundRect">
            <a:avLst/>
          </a:prstGeom>
          <a:solidFill>
            <a:srgbClr val="1F2A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0" y="2075688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FF7878"/>
                </a:solidFill>
                <a:latin typeface="Aptos"/>
              </a:defRPr>
            </a:pPr>
            <a:r>
              <a:t>APPROVAL LOG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2423160"/>
            <a:ext cx="18288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900" b="0">
                <a:solidFill>
                  <a:srgbClr val="AEBCCC"/>
                </a:solidFill>
                <a:latin typeface="Aptos"/>
              </a:defRPr>
            </a:pPr>
            <a:r>
              <a:t>who / what / when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9232" y="2176272"/>
            <a:ext cx="502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AEBCC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33872" y="2176272"/>
            <a:ext cx="502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AEBCC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8512" y="2176272"/>
            <a:ext cx="502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AEBCC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3703320"/>
            <a:ext cx="10287000" cy="1234440"/>
          </a:xfrm>
          <a:prstGeom prst="roundRect">
            <a:avLst/>
          </a:prstGeom>
          <a:solidFill>
            <a:srgbClr val="18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3913632"/>
            <a:ext cx="96926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64E6BE"/>
                </a:solidFill>
                <a:latin typeface="Aptos"/>
              </a:defRPr>
            </a:pPr>
            <a:r>
              <a:t>INTEGRATION ADAPTERS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4297680"/>
            <a:ext cx="96012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2F6FA"/>
                </a:solidFill>
                <a:latin typeface="Aptos"/>
              </a:defRPr>
            </a:pPr>
            <a:r>
              <a:t>Gmail (read-only)  •  YouTube research  •  Shopify theme tools  •  optional automation runner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349240"/>
            <a:ext cx="102412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FFC469"/>
                </a:solidFill>
                <a:latin typeface="Aptos"/>
              </a:defRPr>
            </a:pPr>
            <a:r>
              <a:t>Security boundary: API credentials and refresh tokens belong on the server, never in the HTML file or browser localStorage.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3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4E6BE"/>
                </a:solidFill>
                <a:latin typeface="Aptos"/>
              </a:defRPr>
            </a:pPr>
            <a:r>
              <a:t>04 /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F2F6FA"/>
                </a:solidFill>
                <a:latin typeface="Aptos"/>
              </a:defRPr>
            </a:pPr>
            <a:r>
              <a:t>Build in six small, testable phases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98448"/>
            <a:ext cx="107899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AEBCCC"/>
                </a:solidFill>
                <a:latin typeface="Aptos"/>
              </a:defRPr>
            </a:pPr>
            <a:r>
              <a:t>Do not integrate everything at once. Each phase must pass its exit test before the next begins.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AEBCCC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5257800" cy="1115568"/>
          </a:xfrm>
          <a:prstGeom prst="roundRect">
            <a:avLst/>
          </a:prstGeom>
          <a:solidFill>
            <a:srgbClr val="18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993391"/>
            <a:ext cx="9144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64E6BE"/>
                </a:solidFill>
                <a:latin typeface="Aptos"/>
              </a:defRPr>
            </a:pPr>
            <a:r>
              <a:t>WEEK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965960"/>
            <a:ext cx="3886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2F6FA"/>
                </a:solidFill>
                <a:latin typeface="Aptos"/>
              </a:defRPr>
            </a:pPr>
            <a:r>
              <a:t>Stabilize prototype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95144"/>
            <a:ext cx="48463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AEBCCC"/>
                </a:solidFill>
                <a:latin typeface="Aptos"/>
              </a:defRPr>
            </a:pPr>
            <a:r>
              <a:t>Task add/edit/delete, unique IDs, schema validation, storage errors, export/import backup.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06624"/>
            <a:ext cx="48463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64E6BE"/>
                </a:solidFill>
                <a:latin typeface="Aptos"/>
              </a:defRPr>
            </a:pPr>
            <a:r>
              <a:t>Exit: refresh, restart and restore tasks without data loss.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874519"/>
            <a:ext cx="5257800" cy="1115568"/>
          </a:xfrm>
          <a:prstGeom prst="roundRect">
            <a:avLst/>
          </a:prstGeom>
          <a:solidFill>
            <a:srgbClr val="18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1993391"/>
            <a:ext cx="9144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69A9FF"/>
                </a:solidFill>
                <a:latin typeface="Aptos"/>
              </a:defRPr>
            </a:pPr>
            <a:r>
              <a:t>WEEK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1965960"/>
            <a:ext cx="3886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2F6FA"/>
                </a:solidFill>
                <a:latin typeface="Aptos"/>
              </a:defRPr>
            </a:pPr>
            <a:r>
              <a:t>Create task data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295144"/>
            <a:ext cx="48463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AEBCCC"/>
                </a:solidFill>
                <a:latin typeface="Aptos"/>
              </a:defRPr>
            </a:pPr>
            <a:r>
              <a:t>Define task schema, status states, due date, priority, source URL and activity log.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706624"/>
            <a:ext cx="48463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69A9FF"/>
                </a:solidFill>
                <a:latin typeface="Aptos"/>
              </a:defRPr>
            </a:pPr>
            <a:r>
              <a:t>Exit: task data is consistent and exportable.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200400"/>
            <a:ext cx="5257800" cy="1115568"/>
          </a:xfrm>
          <a:prstGeom prst="roundRect">
            <a:avLst/>
          </a:prstGeom>
          <a:solidFill>
            <a:srgbClr val="18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" y="3319272"/>
            <a:ext cx="9144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FFC469"/>
                </a:solidFill>
                <a:latin typeface="Aptos"/>
              </a:defRPr>
            </a:pPr>
            <a:r>
              <a:t>WEEK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3291840"/>
            <a:ext cx="3886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2F6FA"/>
                </a:solidFill>
                <a:latin typeface="Aptos"/>
              </a:defRPr>
            </a:pPr>
            <a:r>
              <a:t>Gmail read-only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621024"/>
            <a:ext cx="48463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AEBCCC"/>
                </a:solidFill>
                <a:latin typeface="Aptos"/>
              </a:defRPr>
            </a:pPr>
            <a:r>
              <a:t>Create Google Cloud project, enable Gmail API, OAuth consent, minimal read scope, fetch a few messages.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032504"/>
            <a:ext cx="48463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FFC469"/>
                </a:solidFill>
                <a:latin typeface="Aptos"/>
              </a:defRPr>
            </a:pPr>
            <a:r>
              <a:t>Exit: only approved messages/fields are read; no send/delete/modify.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200400"/>
            <a:ext cx="5257800" cy="1115568"/>
          </a:xfrm>
          <a:prstGeom prst="roundRect">
            <a:avLst/>
          </a:prstGeom>
          <a:solidFill>
            <a:srgbClr val="18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2512" y="3319272"/>
            <a:ext cx="9144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FF7878"/>
                </a:solidFill>
                <a:latin typeface="Aptos"/>
              </a:defRPr>
            </a:pPr>
            <a:r>
              <a:t>WEEK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3291840"/>
            <a:ext cx="3886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2F6FA"/>
                </a:solidFill>
                <a:latin typeface="Aptos"/>
              </a:defRPr>
            </a:pPr>
            <a:r>
              <a:t>Approval engine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621024"/>
            <a:ext cx="48463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AEBCCC"/>
                </a:solidFill>
                <a:latin typeface="Aptos"/>
              </a:defRPr>
            </a:pPr>
            <a:r>
              <a:t>Proposed → approved → executed/failed; server validates approval; record action result.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032504"/>
            <a:ext cx="48463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FF7878"/>
                </a:solidFill>
                <a:latin typeface="Aptos"/>
              </a:defRPr>
            </a:pPr>
            <a:r>
              <a:t>Exit: rejected actions cannot execute; duplicate clicks do not duplicate work.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526279"/>
            <a:ext cx="5257800" cy="1115568"/>
          </a:xfrm>
          <a:prstGeom prst="roundRect">
            <a:avLst/>
          </a:prstGeom>
          <a:solidFill>
            <a:srgbClr val="18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" y="4645151"/>
            <a:ext cx="9144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69A9FF"/>
                </a:solidFill>
                <a:latin typeface="Aptos"/>
              </a:defRPr>
            </a:pPr>
            <a:r>
              <a:t>WEEK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83080" y="4617719"/>
            <a:ext cx="3886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2F6FA"/>
                </a:solidFill>
                <a:latin typeface="Aptos"/>
              </a:defRPr>
            </a:pPr>
            <a:r>
              <a:t>YouTube research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4946903"/>
            <a:ext cx="48463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AEBCCC"/>
                </a:solidFill>
                <a:latin typeface="Aptos"/>
              </a:defRPr>
            </a:pPr>
            <a:r>
              <a:t>Input URL, capture metadata, use transcript only when legitimately available, produce steps + tests.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5358383"/>
            <a:ext cx="48463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69A9FF"/>
                </a:solidFill>
                <a:latin typeface="Aptos"/>
              </a:defRPr>
            </a:pPr>
            <a:r>
              <a:t>Exit: output distinguishes video facts, assumptions and missing evidence.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4526279"/>
            <a:ext cx="5257800" cy="1115568"/>
          </a:xfrm>
          <a:prstGeom prst="roundRect">
            <a:avLst/>
          </a:prstGeom>
          <a:solidFill>
            <a:srgbClr val="18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82512" y="4645151"/>
            <a:ext cx="9144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64E6BE"/>
                </a:solidFill>
                <a:latin typeface="Aptos"/>
              </a:defRPr>
            </a:pPr>
            <a:r>
              <a:t>WEEK 6+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4617719"/>
            <a:ext cx="3886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2F6FA"/>
                </a:solidFill>
                <a:latin typeface="Aptos"/>
              </a:defRPr>
            </a:pPr>
            <a:r>
              <a:t>Shopify safe development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946903"/>
            <a:ext cx="48463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AEBCCC"/>
                </a:solidFill>
                <a:latin typeface="Aptos"/>
              </a:defRPr>
            </a:pPr>
            <a:r>
              <a:t>Work on a theme copy, diff changes, preview and test; publish only after explicit approval.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5358383"/>
            <a:ext cx="48463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64E6BE"/>
                </a:solidFill>
                <a:latin typeface="Aptos"/>
              </a:defRPr>
            </a:pPr>
            <a:r>
              <a:t>Exit: rollback path exists and no live changes happen by default.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3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4E6BE"/>
                </a:solidFill>
                <a:latin typeface="Aptos"/>
              </a:defRPr>
            </a:pPr>
            <a:r>
              <a:t>05 / INTEGRATION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F2F6FA"/>
                </a:solidFill>
                <a:latin typeface="Aptos"/>
              </a:defRPr>
            </a:pPr>
            <a:r>
              <a:t>Gmail: read, summarize, suggest — never send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98448"/>
            <a:ext cx="107899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AEBCCC"/>
                </a:solidFill>
                <a:latin typeface="Aptos"/>
              </a:defRPr>
            </a:pPr>
            <a:r>
              <a:t>Start with one test account and the minimum scope. Google’s OAuth flow must be configured correctly.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AEBCCC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475488" cy="457200"/>
          </a:xfrm>
          <a:prstGeom prst="roundRect">
            <a:avLst/>
          </a:prstGeom>
          <a:solidFill>
            <a:srgbClr val="1F2A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475488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64E6BE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847088"/>
            <a:ext cx="28346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F2F6FA"/>
                </a:solidFill>
                <a:latin typeface="Aptos"/>
              </a:defRPr>
            </a:pPr>
            <a:r>
              <a:t>Create a Google Cloud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1847088"/>
            <a:ext cx="71323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AEBCCC"/>
                </a:solidFill>
                <a:latin typeface="Aptos"/>
              </a:defRPr>
            </a:pPr>
            <a:r>
              <a:t>Enable Gmail API; configure consent screen and OAuth client.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459736"/>
            <a:ext cx="475488" cy="457200"/>
          </a:xfrm>
          <a:prstGeom prst="roundRect">
            <a:avLst/>
          </a:prstGeom>
          <a:solidFill>
            <a:srgbClr val="1F2A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551176"/>
            <a:ext cx="475488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64E6BE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478024"/>
            <a:ext cx="28346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F2F6FA"/>
                </a:solidFill>
                <a:latin typeface="Aptos"/>
              </a:defRPr>
            </a:pPr>
            <a:r>
              <a:t>Choose minimum permission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478024"/>
            <a:ext cx="71323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AEBCCC"/>
                </a:solidFill>
                <a:latin typeface="Aptos"/>
              </a:defRPr>
            </a:pPr>
            <a:r>
              <a:t>Use read-only scope for the first version; do not request send/modify access.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090672"/>
            <a:ext cx="475488" cy="457200"/>
          </a:xfrm>
          <a:prstGeom prst="roundRect">
            <a:avLst/>
          </a:prstGeom>
          <a:solidFill>
            <a:srgbClr val="1F2A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182112"/>
            <a:ext cx="475488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64E6BE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108960"/>
            <a:ext cx="28346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F2F6FA"/>
                </a:solidFill>
                <a:latin typeface="Aptos"/>
              </a:defRPr>
            </a:pPr>
            <a:r>
              <a:t>Fetch a small sample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3108960"/>
            <a:ext cx="71323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AEBCCC"/>
                </a:solidFill>
                <a:latin typeface="Aptos"/>
              </a:defRPr>
            </a:pPr>
            <a:r>
              <a:t>List a few message IDs; retrieve only fields needed for task extraction.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721608"/>
            <a:ext cx="475488" cy="457200"/>
          </a:xfrm>
          <a:prstGeom prst="roundRect">
            <a:avLst/>
          </a:prstGeom>
          <a:solidFill>
            <a:srgbClr val="1F2A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813048"/>
            <a:ext cx="475488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64E6BE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739896"/>
            <a:ext cx="28346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F2F6FA"/>
                </a:solidFill>
                <a:latin typeface="Aptos"/>
              </a:defRPr>
            </a:pPr>
            <a:r>
              <a:t>Create task suggestions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3739896"/>
            <a:ext cx="71323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AEBCCC"/>
                </a:solidFill>
                <a:latin typeface="Aptos"/>
              </a:defRPr>
            </a:pPr>
            <a:r>
              <a:t>Store subject, sender, date, short summary and message link; avoid copying full email bodies by default.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352544"/>
            <a:ext cx="475488" cy="457200"/>
          </a:xfrm>
          <a:prstGeom prst="roundRect">
            <a:avLst/>
          </a:prstGeom>
          <a:solidFill>
            <a:srgbClr val="1F2A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443983"/>
            <a:ext cx="475488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64E6BE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4370831"/>
            <a:ext cx="28346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F2F6FA"/>
                </a:solidFill>
                <a:latin typeface="Aptos"/>
              </a:defRPr>
            </a:pPr>
            <a:r>
              <a:t>Human 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4370831"/>
            <a:ext cx="71323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AEBCCC"/>
                </a:solidFill>
                <a:latin typeface="Aptos"/>
              </a:defRPr>
            </a:pPr>
            <a:r>
              <a:t>User confirms whether a suggestion becomes a task.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983479"/>
            <a:ext cx="475488" cy="457200"/>
          </a:xfrm>
          <a:prstGeom prst="roundRect">
            <a:avLst/>
          </a:prstGeom>
          <a:solidFill>
            <a:srgbClr val="1F2A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074919"/>
            <a:ext cx="475488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64E6BE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5001767"/>
            <a:ext cx="28346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F2F6FA"/>
                </a:solidFill>
                <a:latin typeface="Aptos"/>
              </a:defRPr>
            </a:pPr>
            <a:r>
              <a:t>Test revocation + errors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0" y="5001767"/>
            <a:ext cx="71323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AEBCCC"/>
                </a:solidFill>
                <a:latin typeface="Aptos"/>
              </a:defRPr>
            </a:pPr>
            <a:r>
              <a:t>Handle expired/revoked tokens, denied consent, quota errors and missing fields.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806440"/>
            <a:ext cx="10698480" cy="438912"/>
          </a:xfrm>
          <a:prstGeom prst="roundRect">
            <a:avLst/>
          </a:prstGeom>
          <a:solidFill>
            <a:srgbClr val="1F2A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907024"/>
            <a:ext cx="103327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FFC469"/>
                </a:solidFill>
                <a:latin typeface="Aptos"/>
              </a:defRPr>
            </a:pPr>
            <a:r>
              <a:t>Official references: Gmail API Quickstart and OAuth 2.0 server-side authorization (links in final notes).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3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4E6BE"/>
                </a:solidFill>
                <a:latin typeface="Aptos"/>
              </a:defRPr>
            </a:pPr>
            <a:r>
              <a:t>06 / INTEGRATION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F2F6FA"/>
                </a:solidFill>
                <a:latin typeface="Aptos"/>
              </a:defRPr>
            </a:pPr>
            <a:r>
              <a:t>YouTube: turn a tutorial into an implementation playbook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98448"/>
            <a:ext cx="107899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AEBCCC"/>
                </a:solidFill>
                <a:latin typeface="Aptos"/>
              </a:defRPr>
            </a:pPr>
            <a:r>
              <a:t>Every video should produce a repeatable document, not just a summary.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AEBCCC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20240"/>
            <a:ext cx="3429000" cy="1508760"/>
          </a:xfrm>
          <a:prstGeom prst="roundRect">
            <a:avLst/>
          </a:prstGeom>
          <a:solidFill>
            <a:srgbClr val="18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920240"/>
            <a:ext cx="64008" cy="1508760"/>
          </a:xfrm>
          <a:prstGeom prst="rect">
            <a:avLst/>
          </a:prstGeom>
          <a:solidFill>
            <a:srgbClr val="64E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2066544"/>
            <a:ext cx="30632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2F6FA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87168"/>
            <a:ext cx="3063240" cy="8503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AEBCCC"/>
                </a:solidFill>
                <a:latin typeface="Aptos"/>
              </a:defRPr>
            </a:pPr>
            <a:r>
              <a:t>Video URL, creator/title, publication date, goal and your current stack.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920240"/>
            <a:ext cx="3429000" cy="1508760"/>
          </a:xfrm>
          <a:prstGeom prst="roundRect">
            <a:avLst/>
          </a:prstGeom>
          <a:solidFill>
            <a:srgbClr val="18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920240"/>
            <a:ext cx="64008" cy="1508760"/>
          </a:xfrm>
          <a:prstGeom prst="rect">
            <a:avLst/>
          </a:prstGeom>
          <a:solidFill>
            <a:srgbClr val="69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2066544"/>
            <a:ext cx="30632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2F6FA"/>
                </a:solidFill>
                <a:latin typeface="Aptos"/>
              </a:defRPr>
            </a:pPr>
            <a:r>
              <a:t>EXTRACT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487168"/>
            <a:ext cx="3063240" cy="8503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AEBCCC"/>
                </a:solidFill>
                <a:latin typeface="Aptos"/>
              </a:defRPr>
            </a:pPr>
            <a:r>
              <a:t>Metadata via API where available; transcript/captions only when available and permitted. Mark gaps clearly.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920240"/>
            <a:ext cx="3429000" cy="1508760"/>
          </a:xfrm>
          <a:prstGeom prst="roundRect">
            <a:avLst/>
          </a:prstGeom>
          <a:solidFill>
            <a:srgbClr val="18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920240"/>
            <a:ext cx="64008" cy="1508760"/>
          </a:xfrm>
          <a:prstGeom prst="rect">
            <a:avLst/>
          </a:prstGeom>
          <a:solidFill>
            <a:srgbClr val="FFC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2066544"/>
            <a:ext cx="30632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2F6FA"/>
                </a:solidFill>
                <a:latin typeface="Aptos"/>
              </a:defRPr>
            </a:pPr>
            <a:r>
              <a:t>IMPLEMENT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487168"/>
            <a:ext cx="3063240" cy="8503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AEBCCC"/>
                </a:solidFill>
                <a:latin typeface="Aptos"/>
              </a:defRPr>
            </a:pPr>
            <a:r>
              <a:t>Break into prerequisites, steps, commands, expected output, test, rollback and cost.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840480"/>
            <a:ext cx="10835640" cy="1325880"/>
          </a:xfrm>
          <a:prstGeom prst="roundRect">
            <a:avLst/>
          </a:prstGeom>
          <a:solidFill>
            <a:srgbClr val="1F2A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069080"/>
            <a:ext cx="101498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64E6BE"/>
                </a:solidFill>
                <a:latin typeface="Aptos"/>
              </a:defRPr>
            </a:pPr>
            <a:r>
              <a:t>STANDARD OUTPUT TEMPLATE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462272"/>
            <a:ext cx="100584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F2F6FA"/>
                </a:solidFill>
                <a:latin typeface="Aptos"/>
              </a:defRPr>
            </a:pPr>
            <a:r>
              <a:t>Goal → prerequisites → exact steps → code/config → expected result → failure modes → security check → free-tier limits → acceptance test → next step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532120"/>
            <a:ext cx="103327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AEBCCC"/>
                </a:solidFill>
                <a:latin typeface="Aptos"/>
              </a:defRPr>
            </a:pPr>
            <a:r>
              <a:t>Important: a YouTube Data API response does not guarantee transcript access. If captions are missing, ask for a transcript or analyze the accessible description and state the limitation.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3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4E6BE"/>
                </a:solidFill>
                <a:latin typeface="Aptos"/>
              </a:defRPr>
            </a:pPr>
            <a:r>
              <a:t>07 / SAFETY BY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F2F6FA"/>
                </a:solidFill>
                <a:latin typeface="Aptos"/>
              </a:defRPr>
            </a:pPr>
            <a:r>
              <a:t>Approval workflow is the system’s control plane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98448"/>
            <a:ext cx="107899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AEBCCC"/>
                </a:solidFill>
                <a:latin typeface="Aptos"/>
              </a:defRPr>
            </a:pPr>
            <a:r>
              <a:t>No external action should be executed just because a model suggested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AEBCCC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194560"/>
            <a:ext cx="2057400" cy="1097280"/>
          </a:xfrm>
          <a:prstGeom prst="roundRect">
            <a:avLst/>
          </a:prstGeom>
          <a:solidFill>
            <a:srgbClr val="1F2A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395728"/>
            <a:ext cx="1874519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100" b="1">
                <a:solidFill>
                  <a:srgbClr val="69A9FF"/>
                </a:solidFill>
                <a:latin typeface="Aptos"/>
              </a:defRPr>
            </a:pPr>
            <a:r>
              <a:t>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743200"/>
            <a:ext cx="18288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F2F6FA"/>
                </a:solidFill>
                <a:latin typeface="Aptos"/>
              </a:defRPr>
            </a:pPr>
            <a:r>
              <a:t>AI proposes 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70048" y="2542032"/>
            <a:ext cx="228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AEBCC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79" y="2194560"/>
            <a:ext cx="2057400" cy="1097280"/>
          </a:xfrm>
          <a:prstGeom prst="roundRect">
            <a:avLst/>
          </a:prstGeom>
          <a:solidFill>
            <a:srgbClr val="1F2A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0" y="2395728"/>
            <a:ext cx="1874519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100" b="1">
                <a:solidFill>
                  <a:srgbClr val="FFC469"/>
                </a:solidFill>
                <a:latin typeface="Aptos"/>
              </a:defRPr>
            </a:pPr>
            <a:r>
              <a:t>PENDING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35808" y="2743200"/>
            <a:ext cx="18288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F2F6FA"/>
                </a:solidFill>
                <a:latin typeface="Aptos"/>
              </a:defRPr>
            </a:pPr>
            <a:r>
              <a:t>Show exact changes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01768" y="2542032"/>
            <a:ext cx="228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AEBCC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57800" y="2194560"/>
            <a:ext cx="2057400" cy="1097280"/>
          </a:xfrm>
          <a:prstGeom prst="roundRect">
            <a:avLst/>
          </a:prstGeom>
          <a:solidFill>
            <a:srgbClr val="1F2A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49240" y="2395728"/>
            <a:ext cx="1874519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100" b="1">
                <a:solidFill>
                  <a:srgbClr val="64E6BE"/>
                </a:solidFill>
                <a:latin typeface="Aptos"/>
              </a:defRPr>
            </a:pPr>
            <a:r>
              <a:t>APPROVED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67528" y="2743200"/>
            <a:ext cx="18288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F2F6FA"/>
                </a:solidFill>
                <a:latin typeface="Aptos"/>
              </a:defRPr>
            </a:pPr>
            <a:r>
              <a:t>User explicitly approves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33488" y="2542032"/>
            <a:ext cx="228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AEBCC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19" y="2194560"/>
            <a:ext cx="2057400" cy="1097280"/>
          </a:xfrm>
          <a:prstGeom prst="roundRect">
            <a:avLst/>
          </a:prstGeom>
          <a:solidFill>
            <a:srgbClr val="1F2A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59" y="2395728"/>
            <a:ext cx="1874519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100" b="1">
                <a:solidFill>
                  <a:srgbClr val="69A9FF"/>
                </a:solidFill>
                <a:latin typeface="Aptos"/>
              </a:defRPr>
            </a:pPr>
            <a:r>
              <a:t>EXECUTING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99247" y="2743200"/>
            <a:ext cx="18288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F2F6FA"/>
                </a:solidFill>
                <a:latin typeface="Aptos"/>
              </a:defRPr>
            </a:pPr>
            <a:r>
              <a:t>Backend re-checks approval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65207" y="2542032"/>
            <a:ext cx="228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AEBCC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921240" y="2194560"/>
            <a:ext cx="2057400" cy="1097280"/>
          </a:xfrm>
          <a:prstGeom prst="roundRect">
            <a:avLst/>
          </a:prstGeom>
          <a:solidFill>
            <a:srgbClr val="1F2A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12680" y="2395728"/>
            <a:ext cx="1874519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100" b="1">
                <a:solidFill>
                  <a:srgbClr val="FF7878"/>
                </a:solidFill>
                <a:latin typeface="Aptos"/>
              </a:defRPr>
            </a:pPr>
            <a:r>
              <a:t>DONE / FAILED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30967" y="2743200"/>
            <a:ext cx="18288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F2F6FA"/>
                </a:solidFill>
                <a:latin typeface="Aptos"/>
              </a:defRPr>
            </a:pPr>
            <a:r>
              <a:t>Record result + rollback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069080"/>
            <a:ext cx="3383280" cy="1143000"/>
          </a:xfrm>
          <a:prstGeom prst="roundRect">
            <a:avLst/>
          </a:prstGeom>
          <a:solidFill>
            <a:srgbClr val="18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4069080"/>
            <a:ext cx="64008" cy="1143000"/>
          </a:xfrm>
          <a:prstGeom prst="rect">
            <a:avLst/>
          </a:prstGeom>
          <a:solidFill>
            <a:srgbClr val="FF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" y="4215384"/>
            <a:ext cx="30175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2F6FA"/>
                </a:solidFill>
                <a:latin typeface="Aptos"/>
              </a:defRPr>
            </a:pPr>
            <a:r>
              <a:t>ALWAYS REQUIRE APPROVAL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" y="4636008"/>
            <a:ext cx="3017520" cy="4846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AEBCCC"/>
                </a:solidFill>
                <a:latin typeface="Aptos"/>
              </a:defRPr>
            </a:pPr>
            <a:r>
              <a:t>Send email, publish theme, change payments/domain, delete data, spend money.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34840" y="4069080"/>
            <a:ext cx="3383280" cy="1143000"/>
          </a:xfrm>
          <a:prstGeom prst="roundRect">
            <a:avLst/>
          </a:prstGeom>
          <a:solidFill>
            <a:srgbClr val="18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434840" y="4069080"/>
            <a:ext cx="64008" cy="1143000"/>
          </a:xfrm>
          <a:prstGeom prst="rect">
            <a:avLst/>
          </a:prstGeom>
          <a:solidFill>
            <a:srgbClr val="64E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36007" y="4215384"/>
            <a:ext cx="30175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2F6FA"/>
                </a:solidFill>
                <a:latin typeface="Aptos"/>
              </a:defRPr>
            </a:pPr>
            <a:r>
              <a:t>AUTOMATE LOW-RISK TASKS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36007" y="4636008"/>
            <a:ext cx="3017520" cy="4846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AEBCCC"/>
                </a:solidFill>
                <a:latin typeface="Aptos"/>
              </a:defRPr>
            </a:pPr>
            <a:r>
              <a:t>Summaries, draft plans, local test runs, task suggestions.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38160" y="4069080"/>
            <a:ext cx="3383280" cy="1143000"/>
          </a:xfrm>
          <a:prstGeom prst="roundRect">
            <a:avLst/>
          </a:prstGeom>
          <a:solidFill>
            <a:srgbClr val="18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38160" y="4069080"/>
            <a:ext cx="64008" cy="1143000"/>
          </a:xfrm>
          <a:prstGeom prst="rect">
            <a:avLst/>
          </a:prstGeom>
          <a:solidFill>
            <a:srgbClr val="69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39328" y="4215384"/>
            <a:ext cx="30175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2F6FA"/>
                </a:solidFill>
                <a:latin typeface="Aptos"/>
              </a:defRPr>
            </a:pPr>
            <a:r>
              <a:t>LOG EVERY ACTION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39328" y="4636008"/>
            <a:ext cx="3017520" cy="4846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AEBCCC"/>
                </a:solidFill>
                <a:latin typeface="Aptos"/>
              </a:defRPr>
            </a:pPr>
            <a:r>
              <a:t>Input source, proposed diff, approver, timestamp, result and failure reason.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3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4E6BE"/>
                </a:solidFill>
                <a:latin typeface="Aptos"/>
              </a:defRPr>
            </a:pPr>
            <a:r>
              <a:t>08 / DEFINITION OF DONE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F2F6FA"/>
                </a:solidFill>
                <a:latin typeface="Aptos"/>
              </a:defRPr>
            </a:pPr>
            <a:r>
              <a:t>Acceptance tests before calling it ‘automated’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98448"/>
            <a:ext cx="107899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AEBCCC"/>
                </a:solidFill>
                <a:latin typeface="Aptos"/>
              </a:defRPr>
            </a:pPr>
            <a:r>
              <a:t>A feature is complete only when success, failure and recovery are all tested.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AEBCCC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1508760" cy="438912"/>
          </a:xfrm>
          <a:prstGeom prst="roundRect">
            <a:avLst/>
          </a:prstGeom>
          <a:solidFill>
            <a:srgbClr val="1F2A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965960"/>
            <a:ext cx="128016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64E6BE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1929384"/>
            <a:ext cx="859536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F2F6FA"/>
                </a:solidFill>
                <a:latin typeface="Aptos"/>
              </a:defRPr>
            </a:pPr>
            <a:r>
              <a:t>Create/edit/delete tasks; export/import; restart browser; malformed storage recovers safely.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487168"/>
            <a:ext cx="1508760" cy="438912"/>
          </a:xfrm>
          <a:prstGeom prst="roundRect">
            <a:avLst/>
          </a:prstGeom>
          <a:solidFill>
            <a:srgbClr val="1F2A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578608"/>
            <a:ext cx="128016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64E6BE"/>
                </a:solidFill>
                <a:latin typeface="Aptos"/>
              </a:defRPr>
            </a:pPr>
            <a:r>
              <a:t>PERMISSIONS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2542032"/>
            <a:ext cx="859536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F2F6FA"/>
                </a:solidFill>
                <a:latin typeface="Aptos"/>
              </a:defRPr>
            </a:pPr>
            <a:r>
              <a:t>Gmail connection is read-only; no send, delete, or modify API calls in Phase 1.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099815"/>
            <a:ext cx="1508760" cy="438912"/>
          </a:xfrm>
          <a:prstGeom prst="roundRect">
            <a:avLst/>
          </a:prstGeom>
          <a:solidFill>
            <a:srgbClr val="1F2A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3191256"/>
            <a:ext cx="128016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64E6BE"/>
                </a:solidFill>
                <a:latin typeface="Aptos"/>
              </a:defRPr>
            </a:pPr>
            <a:r>
              <a:t>APPROVAL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3154679"/>
            <a:ext cx="859536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F2F6FA"/>
                </a:solidFill>
                <a:latin typeface="Aptos"/>
              </a:defRPr>
            </a:pPr>
            <a:r>
              <a:t>Without an approval record, backend rejects the action. Duplicate requests are idempotent.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12464"/>
            <a:ext cx="1508760" cy="438912"/>
          </a:xfrm>
          <a:prstGeom prst="roundRect">
            <a:avLst/>
          </a:prstGeom>
          <a:solidFill>
            <a:srgbClr val="1F2A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3803904"/>
            <a:ext cx="128016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64E6BE"/>
                </a:solidFill>
                <a:latin typeface="Aptos"/>
              </a:defRPr>
            </a:pPr>
            <a:r>
              <a:t>PRIVACY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4600" y="3767328"/>
            <a:ext cx="859536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F2F6FA"/>
                </a:solidFill>
                <a:latin typeface="Aptos"/>
              </a:defRPr>
            </a:pPr>
            <a:r>
              <a:t>Tokens are server-side; logs avoid full email contents and secrets.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325112"/>
            <a:ext cx="1508760" cy="438912"/>
          </a:xfrm>
          <a:prstGeom prst="roundRect">
            <a:avLst/>
          </a:prstGeom>
          <a:solidFill>
            <a:srgbClr val="1F2A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4416552"/>
            <a:ext cx="128016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64E6BE"/>
                </a:solidFill>
                <a:latin typeface="Aptos"/>
              </a:defRPr>
            </a:pPr>
            <a:r>
              <a:t>YOUTUBE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4600" y="4379976"/>
            <a:ext cx="859536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F2F6FA"/>
                </a:solidFill>
                <a:latin typeface="Aptos"/>
              </a:defRPr>
            </a:pPr>
            <a:r>
              <a:t>Each step has source/time reference when available; unknowns are labeled, not invented.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937760"/>
            <a:ext cx="1508760" cy="438912"/>
          </a:xfrm>
          <a:prstGeom prst="roundRect">
            <a:avLst/>
          </a:prstGeom>
          <a:solidFill>
            <a:srgbClr val="1F2A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5029200"/>
            <a:ext cx="128016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64E6BE"/>
                </a:solidFill>
                <a:latin typeface="Aptos"/>
              </a:defRPr>
            </a:pPr>
            <a:r>
              <a:t>SHOPIFY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4600" y="4992624"/>
            <a:ext cx="859536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F2F6FA"/>
                </a:solidFill>
                <a:latin typeface="Aptos"/>
              </a:defRPr>
            </a:pPr>
            <a:r>
              <a:t>Changes happen on a theme copy; preview and rollback are documented; publish is gated.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897880"/>
            <a:ext cx="104241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FFC469"/>
                </a:solidFill>
                <a:latin typeface="Aptos"/>
              </a:defRPr>
            </a:pPr>
            <a:r>
              <a:t>Track: status • evidence • blocker • next action • estimated cost • rollback tested?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3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4E6BE"/>
                </a:solidFill>
                <a:latin typeface="Aptos"/>
              </a:defRPr>
            </a:pPr>
            <a:r>
              <a:t>09 / START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F2F6FA"/>
                </a:solidFill>
                <a:latin typeface="Aptos"/>
              </a:defRPr>
            </a:pPr>
            <a:r>
              <a:t>The first 48 hours: make progress without spending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98448"/>
            <a:ext cx="107899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AEBCCC"/>
                </a:solidFill>
                <a:latin typeface="Aptos"/>
              </a:defRPr>
            </a:pPr>
            <a:r>
              <a:t>Small deliverables first. No production accounts or live-store changes needed.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AEBCCC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5212080" cy="1143000"/>
          </a:xfrm>
          <a:prstGeom prst="roundRect">
            <a:avLst/>
          </a:prstGeom>
          <a:solidFill>
            <a:srgbClr val="18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74519"/>
            <a:ext cx="64008" cy="1143000"/>
          </a:xfrm>
          <a:prstGeom prst="rect">
            <a:avLst/>
          </a:prstGeom>
          <a:solidFill>
            <a:srgbClr val="64E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20824"/>
            <a:ext cx="48463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F2F6FA"/>
                </a:solidFill>
                <a:latin typeface="Aptos"/>
              </a:defRPr>
            </a:pPr>
            <a:r>
              <a:t>DAY 1 — BASELINE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441448"/>
            <a:ext cx="4846320" cy="4846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AEBCCC"/>
                </a:solidFill>
                <a:latin typeface="Aptos"/>
              </a:defRPr>
            </a:pPr>
            <a:r>
              <a:t>Keep a backup of the current HTML. Create a private Git repository. Write down current features and known bugs.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74519"/>
            <a:ext cx="5212080" cy="1143000"/>
          </a:xfrm>
          <a:prstGeom prst="roundRect">
            <a:avLst/>
          </a:prstGeom>
          <a:solidFill>
            <a:srgbClr val="18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874519"/>
            <a:ext cx="64008" cy="1143000"/>
          </a:xfrm>
          <a:prstGeom prst="rect">
            <a:avLst/>
          </a:prstGeom>
          <a:solidFill>
            <a:srgbClr val="69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2020824"/>
            <a:ext cx="48463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F2F6FA"/>
                </a:solidFill>
                <a:latin typeface="Aptos"/>
              </a:defRPr>
            </a:pPr>
            <a:r>
              <a:t>DAY 1 — DATA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2441448"/>
            <a:ext cx="4846320" cy="4846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AEBCCC"/>
                </a:solidFill>
                <a:latin typeface="Aptos"/>
              </a:defRPr>
            </a:pPr>
            <a:r>
              <a:t>Define Task fields: id, title, status, priority, due_date, source_url, created_at, updated_at.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291840"/>
            <a:ext cx="5212080" cy="1143000"/>
          </a:xfrm>
          <a:prstGeom prst="roundRect">
            <a:avLst/>
          </a:prstGeom>
          <a:solidFill>
            <a:srgbClr val="18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291840"/>
            <a:ext cx="64008" cy="1143000"/>
          </a:xfrm>
          <a:prstGeom prst="rect">
            <a:avLst/>
          </a:prstGeom>
          <a:solidFill>
            <a:srgbClr val="FFC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438144"/>
            <a:ext cx="48463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F2F6FA"/>
                </a:solidFill>
                <a:latin typeface="Aptos"/>
              </a:defRPr>
            </a:pPr>
            <a:r>
              <a:t>DAY 2 — HARDEN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3858768"/>
            <a:ext cx="4846320" cy="4846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AEBCCC"/>
                </a:solidFill>
                <a:latin typeface="Aptos"/>
              </a:defRPr>
            </a:pPr>
            <a:r>
              <a:t>Fix IDs, validation, storage errors, task edit/delete and export/import. Test refresh and restore.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291840"/>
            <a:ext cx="5212080" cy="1143000"/>
          </a:xfrm>
          <a:prstGeom prst="roundRect">
            <a:avLst/>
          </a:prstGeom>
          <a:solidFill>
            <a:srgbClr val="18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3291840"/>
            <a:ext cx="64008" cy="1143000"/>
          </a:xfrm>
          <a:prstGeom prst="rect">
            <a:avLst/>
          </a:prstGeom>
          <a:solidFill>
            <a:srgbClr val="FF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3438144"/>
            <a:ext cx="48463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F2F6FA"/>
                </a:solidFill>
                <a:latin typeface="Aptos"/>
              </a:defRPr>
            </a:pPr>
            <a:r>
              <a:t>DAY 2 — GMAIL PREP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3368" y="3858768"/>
            <a:ext cx="4846320" cy="4846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AEBCCC"/>
                </a:solidFill>
                <a:latin typeface="Aptos"/>
              </a:defRPr>
            </a:pPr>
            <a:r>
              <a:t>Read the official quickstart; create a test project; plan a read-only OAuth scope. Do not paste secrets into chat or frontend code.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892040"/>
            <a:ext cx="10652760" cy="731520"/>
          </a:xfrm>
          <a:prstGeom prst="roundRect">
            <a:avLst/>
          </a:prstGeom>
          <a:solidFill>
            <a:srgbClr val="1F2A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084064"/>
            <a:ext cx="101498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F2F6FA"/>
                </a:solidFill>
                <a:latin typeface="Aptos"/>
              </a:defRPr>
            </a:pPr>
            <a:r>
              <a:t>NEXT DELIVERABLE: a tested, backed-up dashboard before connecting any external account.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3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4E6BE"/>
                </a:solidFill>
                <a:latin typeface="Aptos"/>
              </a:defRPr>
            </a:pPr>
            <a:r>
              <a:t>APPENDIX /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F2F6FA"/>
                </a:solidFill>
                <a:latin typeface="Aptos"/>
              </a:defRPr>
            </a:pPr>
            <a:r>
              <a:t>Official documentation to follow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98448"/>
            <a:ext cx="107899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AEBCCC"/>
                </a:solidFill>
                <a:latin typeface="Aptos"/>
              </a:defRPr>
            </a:pPr>
            <a:r>
              <a:t>Tool pricing and free-tier limits can change; check before deployment.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AEBCCC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75488"/>
          </a:xfrm>
          <a:prstGeom prst="roundRect">
            <a:avLst/>
          </a:prstGeom>
          <a:solidFill>
            <a:srgbClr val="18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01952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F2F6FA"/>
                </a:solidFill>
                <a:latin typeface="Aptos"/>
              </a:defRPr>
            </a:pPr>
            <a:r>
              <a:t>Gmail API — Node.js quickstart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1901952"/>
            <a:ext cx="6217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9A9FF"/>
                </a:solidFill>
                <a:latin typeface="Aptos"/>
              </a:defRPr>
            </a:pPr>
            <a:r>
              <a:t>https://developers.google.com/workspace/gmail/api/quickstart/nodejs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441448"/>
            <a:ext cx="10698480" cy="475488"/>
          </a:xfrm>
          <a:prstGeom prst="roundRect">
            <a:avLst/>
          </a:prstGeom>
          <a:solidFill>
            <a:srgbClr val="1F2A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514600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F2F6FA"/>
                </a:solidFill>
                <a:latin typeface="Aptos"/>
              </a:defRPr>
            </a:pPr>
            <a:r>
              <a:t>Gmail API — OAuth server-side authorization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2514600"/>
            <a:ext cx="6217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9A9FF"/>
                </a:solidFill>
                <a:latin typeface="Aptos"/>
              </a:defRPr>
            </a:pPr>
            <a:r>
              <a:t>https://developers.google.com/workspace/gmail/api/auth/web-server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054096"/>
            <a:ext cx="10698480" cy="475488"/>
          </a:xfrm>
          <a:prstGeom prst="roundRect">
            <a:avLst/>
          </a:prstGeom>
          <a:solidFill>
            <a:srgbClr val="18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127248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F2F6FA"/>
                </a:solidFill>
                <a:latin typeface="Aptos"/>
              </a:defRPr>
            </a:pPr>
            <a:r>
              <a:t>Gmail API — usage limits and quota notes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3127248"/>
            <a:ext cx="6217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9A9FF"/>
                </a:solidFill>
                <a:latin typeface="Aptos"/>
              </a:defRPr>
            </a:pPr>
            <a:r>
              <a:t>https://developers.google.com/workspace/gmail/api/reference/quota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666744"/>
            <a:ext cx="10698480" cy="475488"/>
          </a:xfrm>
          <a:prstGeom prst="roundRect">
            <a:avLst/>
          </a:prstGeom>
          <a:solidFill>
            <a:srgbClr val="1F2A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73989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F2F6FA"/>
                </a:solidFill>
                <a:latin typeface="Aptos"/>
              </a:defRPr>
            </a:pPr>
            <a:r>
              <a:t>Google OAuth 2.0 overview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3739896"/>
            <a:ext cx="6217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9A9FF"/>
                </a:solidFill>
                <a:latin typeface="Aptos"/>
              </a:defRPr>
            </a:pPr>
            <a:r>
              <a:t>https://developers.google.com/identity/protocols/oauth2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279392"/>
            <a:ext cx="10698480" cy="475488"/>
          </a:xfrm>
          <a:prstGeom prst="roundRect">
            <a:avLst/>
          </a:prstGeom>
          <a:solidFill>
            <a:srgbClr val="18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352544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F2F6FA"/>
                </a:solidFill>
                <a:latin typeface="Aptos"/>
              </a:defRPr>
            </a:pPr>
            <a:r>
              <a:t>n8n — Google credentials / OAuth options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4352544"/>
            <a:ext cx="6217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9A9FF"/>
                </a:solidFill>
                <a:latin typeface="Aptos"/>
              </a:defRPr>
            </a:pPr>
            <a:r>
              <a:t>https://docs.n8n.io/integrations/builtin/credentials/google/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892040"/>
            <a:ext cx="10698480" cy="475488"/>
          </a:xfrm>
          <a:prstGeom prst="roundRect">
            <a:avLst/>
          </a:prstGeom>
          <a:solidFill>
            <a:srgbClr val="1F2A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965192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F2F6FA"/>
                </a:solidFill>
                <a:latin typeface="Aptos"/>
              </a:defRPr>
            </a:pPr>
            <a:r>
              <a:t>Google Cloud Free Tier details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4965192"/>
            <a:ext cx="6217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9A9FF"/>
                </a:solidFill>
                <a:latin typeface="Aptos"/>
              </a:defRPr>
            </a:pPr>
            <a:r>
              <a:t>https://docs.cloud.google.com/free/docs/free-cloud-features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897880"/>
            <a:ext cx="103327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FFC469"/>
                </a:solidFill>
                <a:latin typeface="Aptos"/>
              </a:defRPr>
            </a:pPr>
            <a:r>
              <a:t>Research note: Gmail API standard usage is currently listed as no additional cost, but quotas and billing terms can change. See official quota page.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